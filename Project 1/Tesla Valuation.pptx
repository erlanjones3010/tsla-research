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06"/>
    <p:restoredTop sz="94658"/>
  </p:normalViewPr>
  <p:slideViewPr>
    <p:cSldViewPr snapToGrid="0">
      <p:cViewPr varScale="1">
        <p:scale>
          <a:sx n="116" d="100"/>
          <a:sy n="116" d="100"/>
        </p:scale>
        <p:origin x="1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6ECA6-0685-EC17-9182-3193F8A08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634F16-9A50-B03B-DD21-586C47E78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07589-40B0-8C4A-F8A3-F73B2789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0CC68-B4D5-0D4A-AAA0-296507A5BB0D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FDAB6-9473-3C6E-3201-7576B9602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F518E-D0D8-7E34-7F2D-38CD3FD06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6904-8DCC-3148-AE1D-9A234DD00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716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C7FE-6778-AEFC-5686-736BA801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C423A-CBCF-CDC2-363C-9FCF3C05D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FD250-73E9-1BF6-8622-74B8198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0CC68-B4D5-0D4A-AAA0-296507A5BB0D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283B5-0C35-3FD5-65BA-06ABAB54B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02C1F-02CA-037E-EE82-79EDA897A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6904-8DCC-3148-AE1D-9A234DD00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113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2EEE9-0270-12FC-3733-EC2C75F5B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6718A-BBD5-B15C-F0E5-8834FAC07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F156A-FE34-7127-10B2-7CE182063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0CC68-B4D5-0D4A-AAA0-296507A5BB0D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FBEEC-0BD7-32C5-8C1E-68069FA09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4EAC9-4871-E09E-AE46-F409C926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6904-8DCC-3148-AE1D-9A234DD00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054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71F15-A457-0DB6-6583-A223D1041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8F20C-4E46-F990-2345-83EAEE4AD3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5B593-BB85-31FC-3ABE-928809C39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294BB-C3B5-3CB3-B4CB-96D2B9B8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0CC68-B4D5-0D4A-AAA0-296507A5BB0D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3B305-337F-9245-DAA9-481931977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15529-5963-CF94-5A29-21D588353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6904-8DCC-3148-AE1D-9A234DD00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72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56D44-A0D7-8072-6276-8E3B66F9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9000B-9454-E105-B86F-5B1815220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30D7D-85DC-E198-D938-F0C49369A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33F7B-9B09-E29B-E064-1C2B85E5E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5DF95C-7DB9-1F21-3C5C-6DFDAAE4D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D214DE-C46F-5690-9C43-51E3A0792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0CC68-B4D5-0D4A-AAA0-296507A5BB0D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D7DC3B-AAF6-EEB6-C4CC-BD14D9E88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942C85-7C73-284A-2672-E30C12815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6904-8DCC-3148-AE1D-9A234DD00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67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89317-2D70-1666-F406-BAD5BF313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BE8CCC-8EC6-3778-BE78-A8409CF1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0CC68-B4D5-0D4A-AAA0-296507A5BB0D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BE7F36-42BC-EDE3-5678-1670186C8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A281A-FA14-5E54-5B9B-568EBC935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6904-8DCC-3148-AE1D-9A234DD00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80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2A4AFB-67A6-84F8-30BA-703E596D5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0CC68-B4D5-0D4A-AAA0-296507A5BB0D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2DC812-7815-79C2-D722-233B61770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4F9AD-9961-4D1B-A991-3E989C2EF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6904-8DCC-3148-AE1D-9A234DD00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993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080CC-16B5-9A93-137E-8D172BEAF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914B6-E6BD-5274-7367-99B2A87D4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7F8B7-FEEF-F00C-3C89-A139E832B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9E942-44C8-4E3A-00AB-272CCC647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0CC68-B4D5-0D4A-AAA0-296507A5BB0D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3B7A0-6488-ED53-6D4A-083370FBB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5A3AA-78CC-9E01-2098-48200392F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6904-8DCC-3148-AE1D-9A234DD00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77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8BF2C-4619-C13F-C034-887A9B036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DFA9ED-D53A-8E63-4AFB-56D71BB61B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3A9D27-322F-87DE-5C6D-27C7769A8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B91BF-F9D1-2104-B3FC-9F41409EC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0CC68-B4D5-0D4A-AAA0-296507A5BB0D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90C8A-86A3-1C5B-15F2-F38AF162D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309C6-C2BD-C51E-6D4C-2ED8321A7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6904-8DCC-3148-AE1D-9A234DD00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63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E225B-9C5E-9945-D737-FEC9E1FBE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C9921-78E0-A247-BDF0-C801A0CE4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7E774-E4DB-509A-AF42-54BC7CC6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0CC68-B4D5-0D4A-AAA0-296507A5BB0D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01BD1-E4A1-3FBF-082A-DFE6B9AB8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5A8BE-1561-06F0-43CD-B7790C0CB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6904-8DCC-3148-AE1D-9A234DD00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69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794805-B6B2-DF0C-7C70-6FAC0F6F8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3B51DC-45F8-ECEC-ED4B-633AED47F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4AEAF-4880-625A-09B2-08EC5A90E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0CC68-B4D5-0D4A-AAA0-296507A5BB0D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2E888-13E7-413F-B94E-D65553451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09D4F-1E0F-FD82-A756-F6F554A81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6904-8DCC-3148-AE1D-9A234DD00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741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C938C5-1089-8BC4-B746-69DB7B96D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79A14-EE5B-33AB-9BEB-5BD8A4A7B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65054-9673-3C6F-AFD2-D41C75B47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0CC68-B4D5-0D4A-AAA0-296507A5BB0D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6E935-6254-ABC6-6164-3D5132250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DB6EE-6B64-BBEF-85B4-1405A2905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E6904-8DCC-3148-AE1D-9A234DD00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704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1A3665-CD3D-8A94-CAAE-65C3C0F5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6878" y="349907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5000" dirty="0">
                <a:solidFill>
                  <a:srgbClr val="FFFFFF"/>
                </a:solidFill>
              </a:rPr>
              <a:t>Tesla, Inc. (TSLA): Should the Fund Initiate a Position?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D32BBC-7B23-2FCD-451D-385CEA4C6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4690" y="4734180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By Erlan Jones</a:t>
            </a:r>
          </a:p>
          <a:p>
            <a:pPr algn="l"/>
            <a:r>
              <a:rPr lang="en-US" dirty="0"/>
              <a:t>FIN 43900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C4F41C4-9B09-1E28-5AC3-02CC9ACE2D05}"/>
              </a:ext>
            </a:extLst>
          </p:cNvPr>
          <p:cNvSpPr txBox="1">
            <a:spLocks/>
          </p:cNvSpPr>
          <p:nvPr/>
        </p:nvSpPr>
        <p:spPr>
          <a:xfrm>
            <a:off x="1344690" y="3129747"/>
            <a:ext cx="10005951" cy="14582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Project 1 Valuation for the Investment Committee</a:t>
            </a:r>
          </a:p>
        </p:txBody>
      </p:sp>
    </p:spTree>
    <p:extLst>
      <p:ext uri="{BB962C8B-B14F-4D97-AF65-F5344CB8AC3E}">
        <p14:creationId xmlns:p14="http://schemas.microsoft.com/office/powerpoint/2010/main" val="3321778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CC40D-2545-79CC-6B22-1D35CCC7B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Should We Buy Tesla?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55073-506B-23A9-46A7-9916B5D1C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answer, Not Yet</a:t>
            </a:r>
          </a:p>
          <a:p>
            <a:r>
              <a:rPr lang="en-US" dirty="0"/>
              <a:t>Tesla’s current business is worth about $15-$20 per share (base case $16.54)</a:t>
            </a:r>
          </a:p>
          <a:p>
            <a:r>
              <a:rPr lang="en-US" dirty="0"/>
              <a:t>The other $336 of the price is a bet on Robotaxi and AI, which isn’t proven yet</a:t>
            </a:r>
          </a:p>
          <a:p>
            <a:r>
              <a:rPr lang="en-US" dirty="0"/>
              <a:t>Horizon: 3-5 years (Review Every Quarter)</a:t>
            </a:r>
          </a:p>
        </p:txBody>
      </p:sp>
    </p:spTree>
    <p:extLst>
      <p:ext uri="{BB962C8B-B14F-4D97-AF65-F5344CB8AC3E}">
        <p14:creationId xmlns:p14="http://schemas.microsoft.com/office/powerpoint/2010/main" val="2955035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7A1BCA-A47A-22F0-74B3-FB694A2AB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Tesla in 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AD4BD-31DF-F58C-671D-51E11F628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Cars slowed down. Energy took off.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47E570-D957-12A6-AF42-487465109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114" y="2418342"/>
            <a:ext cx="8145771" cy="36045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729718-6E23-1B57-D2AC-8074754F9167}"/>
              </a:ext>
            </a:extLst>
          </p:cNvPr>
          <p:cNvSpPr txBox="1"/>
          <p:nvPr/>
        </p:nvSpPr>
        <p:spPr>
          <a:xfrm>
            <a:off x="3042930" y="6586409"/>
            <a:ext cx="61015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i="1" dirty="0"/>
              <a:t>Source: Tesla FY2024 and FY2025 Form 10-K.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73B4F2-A088-FD17-C640-1007548C9036}"/>
              </a:ext>
            </a:extLst>
          </p:cNvPr>
          <p:cNvSpPr txBox="1"/>
          <p:nvPr/>
        </p:nvSpPr>
        <p:spPr>
          <a:xfrm>
            <a:off x="2465195" y="6119961"/>
            <a:ext cx="7257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Next: Tesla plans $20B+ of capex in 2026 (vs. $8.5B in 2025).</a:t>
            </a:r>
          </a:p>
        </p:txBody>
      </p:sp>
      <p:sp>
        <p:nvSpPr>
          <p:cNvPr id="11" name="Bent Arrow 10">
            <a:extLst>
              <a:ext uri="{FF2B5EF4-FFF2-40B4-BE49-F238E27FC236}">
                <a16:creationId xmlns:a16="http://schemas.microsoft.com/office/drawing/2014/main" id="{CE7DE8FC-AA4A-51DB-437F-71DF65AAA985}"/>
              </a:ext>
            </a:extLst>
          </p:cNvPr>
          <p:cNvSpPr/>
          <p:nvPr/>
        </p:nvSpPr>
        <p:spPr>
          <a:xfrm rot="10800000" flipH="1">
            <a:off x="2755106" y="6042274"/>
            <a:ext cx="287824" cy="369331"/>
          </a:xfrm>
          <a:prstGeom prst="bentArrow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04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BD25EE-E318-B85E-7043-628930E0E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Drives My Forecast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3464AF-6D67-542D-8322-DC1E73AF2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" y="2066257"/>
            <a:ext cx="10001098" cy="402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648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3BC13-4A83-991E-19C2-AF53FE4A6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Tesla Worth?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BE391-7466-4753-38C0-D30A2F472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method lands far below $356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A2EE99-EF6F-9998-3D48-29FD758AF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297" y="2633472"/>
            <a:ext cx="8340358" cy="358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987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59E4F-5BB5-7D41-2EBB-A907C4562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So, Why </a:t>
            </a:r>
            <a:r>
              <a:rPr lang="en-US" sz="5500" dirty="0"/>
              <a:t>D</a:t>
            </a:r>
            <a:r>
              <a:rPr lang="en-US" sz="5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id I Choose $15-$20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AF49C-E931-141E-1750-1648F7EC8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934" y="2084546"/>
            <a:ext cx="9198132" cy="395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523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CDD9FD-6E32-EDC0-E494-44720F932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5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Does $356 Assume?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16541-7B19-5F4F-60E9-DB3261C5A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588" y="1498878"/>
            <a:ext cx="8426823" cy="39756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price only works if Robotaxi becomes enormous.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3F6389-4ADB-B8BE-5EDB-3BDEA05C1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465" y="2270567"/>
            <a:ext cx="7245070" cy="412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622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AA503E-417F-6F60-73F2-223334ECD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300948"/>
            <a:ext cx="10909640" cy="18326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Would Change My Mind?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826919-5E0D-FB72-6241-EC003F344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214" y="2835859"/>
            <a:ext cx="9175204" cy="334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370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E04610-F9A0-459A-BAD7-781E8C337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I checked the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B0A1D-D666-6AB3-DDF0-9EFF97686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tested the model before trusting it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78D15F-B535-DC5E-48AB-DF1F54E90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443" y="2633472"/>
            <a:ext cx="8790971" cy="367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383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D95DD4-6327-27AA-E145-CE27B5B5E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4137" y="227493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Takeaways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6B2074-6FFC-81C8-1C8B-2EBFBDA8C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67" y="1966293"/>
            <a:ext cx="11061264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104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182</Words>
  <Application>Microsoft Macintosh PowerPoint</Application>
  <PresentationFormat>Widescreen</PresentationFormat>
  <Paragraphs>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Tesla, Inc. (TSLA): Should the Fund Initiate a Position?</vt:lpstr>
      <vt:lpstr>Should We Buy Tesla?</vt:lpstr>
      <vt:lpstr>Tesla in 2025</vt:lpstr>
      <vt:lpstr>What Drives My Forecast</vt:lpstr>
      <vt:lpstr>What is Tesla Worth?</vt:lpstr>
      <vt:lpstr>So, Why Did I Choose $15-$20</vt:lpstr>
      <vt:lpstr>What Does $356 Assume?</vt:lpstr>
      <vt:lpstr>What Would Change My Mind?</vt:lpstr>
      <vt:lpstr>How I checked the work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Erlan E Jones</dc:creator>
  <cp:lastModifiedBy>Erlan E Jones</cp:lastModifiedBy>
  <cp:revision>2</cp:revision>
  <dcterms:created xsi:type="dcterms:W3CDTF">2026-10-08T19:38:11Z</dcterms:created>
  <dcterms:modified xsi:type="dcterms:W3CDTF">2026-10-11T02:13:00Z</dcterms:modified>
</cp:coreProperties>
</file>